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47"/>
    <p:restoredTop sz="94674"/>
  </p:normalViewPr>
  <p:slideViewPr>
    <p:cSldViewPr snapToGrid="0" snapToObjects="1">
      <p:cViewPr varScale="1">
        <p:scale>
          <a:sx n="88" d="100"/>
          <a:sy n="88" d="100"/>
        </p:scale>
        <p:origin x="992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352" y="1888309"/>
            <a:ext cx="1127729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dirty="0">
                <a:solidFill>
                  <a:srgbClr val="1A1A1A"/>
                </a:solidFill>
                <a:latin typeface="Inter"/>
              </a:rPr>
              <a:t>Coding and Doing Math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352" y="2665549"/>
            <a:ext cx="1127729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991B1B"/>
                </a:solidFill>
                <a:latin typeface="Inter"/>
              </a:rPr>
              <a:t>with LLMs and Agentic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352" y="3717109"/>
            <a:ext cx="112772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i="0" dirty="0">
                <a:solidFill>
                  <a:srgbClr val="6B7280"/>
                </a:solidFill>
                <a:latin typeface="Inter"/>
              </a:rPr>
              <a:t>Generative AI for Scholarshi</a:t>
            </a:r>
            <a:r>
              <a:rPr lang="en-US" sz="2800" b="0" i="0" dirty="0">
                <a:solidFill>
                  <a:srgbClr val="6B7280"/>
                </a:solidFill>
                <a:latin typeface="Inter"/>
              </a:rPr>
              <a:t>p</a:t>
            </a:r>
            <a:endParaRPr sz="2800" b="0" i="0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352" y="4448629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9CA3AF"/>
                </a:solidFill>
                <a:latin typeface="Inter"/>
              </a:rPr>
              <a:t>HARVARD DATA SCIENCE INITIATIVE</a:t>
            </a:r>
            <a:endParaRPr lang="en-US" sz="1600" b="1" i="0" dirty="0">
              <a:solidFill>
                <a:srgbClr val="9CA3AF"/>
              </a:solidFill>
              <a:latin typeface="Inter"/>
            </a:endParaRPr>
          </a:p>
          <a:p>
            <a:pPr algn="ctr"/>
            <a:r>
              <a:rPr lang="en-US" sz="1600" b="1" dirty="0">
                <a:solidFill>
                  <a:srgbClr val="9CA3AF"/>
                </a:solidFill>
                <a:latin typeface="Inter"/>
              </a:rPr>
              <a:t>KONSTANTINA YANEVA</a:t>
            </a:r>
          </a:p>
          <a:p>
            <a:pPr algn="ctr"/>
            <a:r>
              <a:rPr lang="en-US" sz="1600" b="1" i="0" dirty="0">
                <a:solidFill>
                  <a:srgbClr val="9CA3AF"/>
                </a:solidFill>
                <a:latin typeface="Inter"/>
              </a:rPr>
              <a:t>Apr 10, 2026</a:t>
            </a:r>
            <a:endParaRPr sz="1400" b="1" i="0" dirty="0">
              <a:solidFill>
                <a:srgbClr val="9CA3A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753" y="763072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Where We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011680"/>
            <a:ext cx="8534095" cy="7315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2057400" y="2176272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9CA3A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130552"/>
            <a:ext cx="64309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The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423160"/>
            <a:ext cx="64309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Gemini, NotebookLM, Gems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880360"/>
            <a:ext cx="8534095" cy="7315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2057400" y="3044952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9CA3A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999232"/>
            <a:ext cx="64309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Hugging Face +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291840"/>
            <a:ext cx="64309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datasets, transformers, pipelines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749040"/>
            <a:ext cx="8534095" cy="7315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2057400" y="3913632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9CA3A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867912"/>
            <a:ext cx="64309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Claude Code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160520"/>
            <a:ext cx="64309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agentic coding from the terminal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617720"/>
            <a:ext cx="8534095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2057400" y="4782312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B91C1C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736592"/>
            <a:ext cx="64309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From conversations to methodologies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5029200"/>
            <a:ext cx="64309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skills, agents, your 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The AI Coding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i="0" dirty="0">
                <a:solidFill>
                  <a:srgbClr val="6B7280"/>
                </a:solidFill>
                <a:latin typeface="Inter"/>
              </a:rPr>
              <a:t>Three layers of abstraction. Three different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19456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792327" y="2194560"/>
            <a:ext cx="3291840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066647" y="2651760"/>
            <a:ext cx="2743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Browser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3383280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dirty="0">
                <a:solidFill>
                  <a:srgbClr val="6B7280"/>
                </a:solidFill>
                <a:latin typeface="Inter"/>
              </a:rPr>
              <a:t>Lovable, v0, Google AI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0967" y="4828032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374151"/>
                </a:solidFill>
                <a:latin typeface="Inter"/>
              </a:rPr>
              <a:t>Everyone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219456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449927" y="2194560"/>
            <a:ext cx="329184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724247" y="2651760"/>
            <a:ext cx="2743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IDE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3383280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Cursor, VS Code + Copilot, Windsurf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853358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374151"/>
                </a:solidFill>
                <a:latin typeface="Inter"/>
              </a:rPr>
              <a:t>Professional Humans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219456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8107527" y="2194560"/>
            <a:ext cx="32918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381847" y="2651760"/>
            <a:ext cx="2743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CLI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3383280"/>
            <a:ext cx="2743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Claude Code, Codex CLI, Gemini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6167" y="4828032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74151"/>
                </a:solidFill>
                <a:latin typeface="Inter"/>
              </a:rPr>
              <a:t>Humans +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Today's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025" y="2192171"/>
            <a:ext cx="3226421" cy="2868025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344701" y="2321004"/>
            <a:ext cx="2748433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Inter"/>
              </a:rPr>
              <a:t>1. First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1785" y="3663272"/>
            <a:ext cx="274843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  <a:latin typeface="Inter"/>
              </a:rPr>
              <a:t>What is an agent?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8206" y="2192172"/>
            <a:ext cx="3226421" cy="2868024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936882" y="2321004"/>
            <a:ext cx="2748433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Inter"/>
              </a:rPr>
              <a:t>2. Skills: The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3966" y="3666976"/>
            <a:ext cx="274843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  <a:latin typeface="Inter"/>
              </a:rPr>
              <a:t>What they are. Why they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0387" y="2192171"/>
            <a:ext cx="3226421" cy="2868023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8529063" y="2321004"/>
            <a:ext cx="2748433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Inter"/>
              </a:rPr>
              <a:t>3. Build Your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6147" y="3666976"/>
            <a:ext cx="274843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6B7280"/>
                </a:solidFill>
                <a:latin typeface="Inter"/>
              </a:rPr>
              <a:t>Hands-on for your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 b="1" i="0" dirty="0">
                <a:solidFill>
                  <a:srgbClr val="1A1A1A"/>
                </a:solidFill>
                <a:latin typeface="Inter"/>
              </a:rPr>
              <a:t>What Makes an Agent?</a:t>
            </a:r>
            <a:endParaRPr sz="4800"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5231" y="3038400"/>
            <a:ext cx="1072583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dirty="0">
                <a:solidFill>
                  <a:srgbClr val="6B7280"/>
                </a:solidFill>
                <a:latin typeface="Inter"/>
              </a:rPr>
              <a:t>VS</a:t>
            </a:r>
          </a:p>
          <a:p>
            <a:pPr algn="ctr"/>
            <a:endParaRPr sz="2400" b="0" i="0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683656" y="2037636"/>
            <a:ext cx="3615357" cy="26111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2087256" y="2340746"/>
            <a:ext cx="275455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6B7280"/>
                </a:solidFill>
                <a:latin typeface="Inter"/>
              </a:rP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7256" y="3016173"/>
            <a:ext cx="27545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6B7280"/>
                </a:solidFill>
                <a:latin typeface="Inter"/>
              </a:rPr>
              <a:t>→  Reactive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7256" y="3473373"/>
            <a:ext cx="27545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6B7280"/>
                </a:solidFill>
                <a:latin typeface="Inter"/>
              </a:rPr>
              <a:t>→  Single-turn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7256" y="3930573"/>
            <a:ext cx="27545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6B7280"/>
                </a:solidFill>
                <a:latin typeface="Inter"/>
              </a:rPr>
              <a:t>→  No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8108" y="2040315"/>
            <a:ext cx="3615357" cy="2611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7521708" y="2343425"/>
            <a:ext cx="275455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Inter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1708" y="3018852"/>
            <a:ext cx="27545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1A1A1A"/>
                </a:solidFill>
                <a:latin typeface="Inter"/>
              </a:rPr>
              <a:t>→  Proactive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1708" y="3476052"/>
            <a:ext cx="27545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1A1A1A"/>
                </a:solidFill>
                <a:latin typeface="Inter"/>
              </a:rPr>
              <a:t>→  Multi-step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1708" y="3933252"/>
            <a:ext cx="275455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1A1A1A"/>
                </a:solidFill>
                <a:latin typeface="Inter"/>
              </a:rPr>
              <a:t>→  Uses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 dirty="0">
                <a:latin typeface="Inter"/>
              </a:rPr>
              <a:t>An agent is a system that uses an LLM to pursue a goal </a:t>
            </a:r>
            <a:endParaRPr lang="en-US" sz="2400" b="0" i="1" dirty="0">
              <a:latin typeface="Inter"/>
            </a:endParaRPr>
          </a:p>
          <a:p>
            <a:pPr algn="ctr"/>
            <a:r>
              <a:rPr sz="2400" b="0" i="1" dirty="0">
                <a:latin typeface="Inter"/>
              </a:rPr>
              <a:t>by </a:t>
            </a:r>
            <a:r>
              <a:rPr sz="2400" b="0" i="1" u="sng" dirty="0">
                <a:latin typeface="Inter"/>
              </a:rPr>
              <a:t>planning and taking actions with tools</a:t>
            </a:r>
            <a:r>
              <a:rPr sz="2400" b="0" i="1" dirty="0">
                <a:latin typeface="Inter"/>
              </a:rPr>
              <a:t>, </a:t>
            </a:r>
            <a:endParaRPr lang="en-US" sz="2400" b="0" i="1" dirty="0">
              <a:latin typeface="Inter"/>
            </a:endParaRPr>
          </a:p>
          <a:p>
            <a:pPr algn="ctr"/>
            <a:r>
              <a:rPr sz="2400" b="0" i="1" dirty="0">
                <a:latin typeface="Inter"/>
              </a:rPr>
              <a:t>iterating in a feedback loop until it's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It's just a while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011680"/>
            <a:ext cx="8168335" cy="40233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77439" y="2190230"/>
            <a:ext cx="7436815" cy="3666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 dirty="0">
                <a:solidFill>
                  <a:srgbClr val="B91C1C"/>
                </a:solidFill>
                <a:latin typeface="Menlo"/>
              </a:rPr>
              <a:t>while not done:</a:t>
            </a:r>
          </a:p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chemeClr val="accent6"/>
                </a:solidFill>
                <a:latin typeface="Menlo"/>
              </a:rPr>
              <a:t>    # 1. Think: what should I do next?</a:t>
            </a:r>
          </a:p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1A1A1A"/>
                </a:solidFill>
                <a:latin typeface="Menlo"/>
              </a:rPr>
              <a:t>    plan = </a:t>
            </a:r>
            <a:r>
              <a:rPr sz="1600" b="0" i="0" dirty="0" err="1">
                <a:solidFill>
                  <a:srgbClr val="1A1A1A"/>
                </a:solidFill>
                <a:latin typeface="Menlo"/>
              </a:rPr>
              <a:t>llm.think</a:t>
            </a:r>
            <a:r>
              <a:rPr sz="1600" b="0" i="0" dirty="0">
                <a:solidFill>
                  <a:srgbClr val="1A1A1A"/>
                </a:solidFill>
                <a:latin typeface="Menlo"/>
              </a:rPr>
              <a:t>(goal, memory, observations)</a:t>
            </a:r>
          </a:p>
          <a:p>
            <a:pPr algn="l">
              <a:lnSpc>
                <a:spcPct val="125000"/>
              </a:lnSpc>
            </a:pPr>
            <a:endParaRPr sz="1600" b="0" i="0" dirty="0">
              <a:solidFill>
                <a:srgbClr val="1A1A1A"/>
              </a:solidFill>
              <a:latin typeface="Menlo"/>
            </a:endParaRPr>
          </a:p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chemeClr val="accent6"/>
                </a:solidFill>
                <a:latin typeface="Menlo"/>
              </a:rPr>
              <a:t>    # 2. Act: use a tool</a:t>
            </a:r>
          </a:p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1A1A1A"/>
                </a:solidFill>
                <a:latin typeface="Menlo"/>
              </a:rPr>
              <a:t>    result = </a:t>
            </a:r>
            <a:r>
              <a:rPr sz="1600" b="0" i="0" dirty="0" err="1">
                <a:solidFill>
                  <a:srgbClr val="1A1A1A"/>
                </a:solidFill>
                <a:latin typeface="Menlo"/>
              </a:rPr>
              <a:t>use_tool</a:t>
            </a:r>
            <a:r>
              <a:rPr sz="1600" b="0" i="0" dirty="0">
                <a:solidFill>
                  <a:srgbClr val="1A1A1A"/>
                </a:solidFill>
                <a:latin typeface="Menlo"/>
              </a:rPr>
              <a:t>(</a:t>
            </a:r>
            <a:r>
              <a:rPr sz="1600" b="0" i="0" dirty="0" err="1">
                <a:solidFill>
                  <a:srgbClr val="1A1A1A"/>
                </a:solidFill>
                <a:latin typeface="Menlo"/>
              </a:rPr>
              <a:t>plan.next_action</a:t>
            </a:r>
            <a:r>
              <a:rPr sz="1600" b="0" i="0" dirty="0">
                <a:solidFill>
                  <a:srgbClr val="1A1A1A"/>
                </a:solidFill>
                <a:latin typeface="Menlo"/>
              </a:rPr>
              <a:t>())</a:t>
            </a:r>
          </a:p>
          <a:p>
            <a:pPr algn="l">
              <a:lnSpc>
                <a:spcPct val="125000"/>
              </a:lnSpc>
            </a:pPr>
            <a:endParaRPr sz="1600" b="0" i="0" dirty="0">
              <a:solidFill>
                <a:srgbClr val="1A1A1A"/>
              </a:solidFill>
              <a:latin typeface="Menlo"/>
            </a:endParaRPr>
          </a:p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chemeClr val="accent6"/>
                </a:solidFill>
                <a:latin typeface="Menlo"/>
              </a:rPr>
              <a:t>    # 3. Observe: what happened?</a:t>
            </a:r>
          </a:p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1A1A1A"/>
                </a:solidFill>
                <a:latin typeface="Menlo"/>
              </a:rPr>
              <a:t>    </a:t>
            </a:r>
            <a:r>
              <a:rPr sz="1600" b="0" i="0" dirty="0" err="1">
                <a:solidFill>
                  <a:srgbClr val="1A1A1A"/>
                </a:solidFill>
                <a:latin typeface="Menlo"/>
              </a:rPr>
              <a:t>memory.add</a:t>
            </a:r>
            <a:r>
              <a:rPr sz="1600" b="0" i="0" dirty="0">
                <a:solidFill>
                  <a:srgbClr val="1A1A1A"/>
                </a:solidFill>
                <a:latin typeface="Menlo"/>
              </a:rPr>
              <a:t>(result)</a:t>
            </a:r>
          </a:p>
          <a:p>
            <a:pPr algn="l">
              <a:lnSpc>
                <a:spcPct val="125000"/>
              </a:lnSpc>
            </a:pPr>
            <a:endParaRPr sz="1600" b="0" i="0" dirty="0">
              <a:solidFill>
                <a:srgbClr val="1A1A1A"/>
              </a:solidFill>
              <a:latin typeface="Menlo"/>
            </a:endParaRPr>
          </a:p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chemeClr val="accent6"/>
                </a:solidFill>
                <a:latin typeface="Menlo"/>
              </a:rPr>
              <a:t>    # 4. Decide: am I done?</a:t>
            </a:r>
          </a:p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1A1A1A"/>
                </a:solidFill>
                <a:latin typeface="Menlo"/>
              </a:rPr>
              <a:t>    done = </a:t>
            </a:r>
            <a:r>
              <a:rPr sz="1600" b="0" i="0" dirty="0" err="1">
                <a:solidFill>
                  <a:srgbClr val="1A1A1A"/>
                </a:solidFill>
                <a:latin typeface="Menlo"/>
              </a:rPr>
              <a:t>plan.is_complete</a:t>
            </a:r>
            <a:r>
              <a:rPr sz="1600" b="0" i="0" dirty="0">
                <a:solidFill>
                  <a:srgbClr val="1A1A1A"/>
                </a:solidFill>
                <a:latin typeface="Menlo"/>
              </a:rPr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The Four Components of 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Each one swappable. Each one essential.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219456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020927" y="2328091"/>
            <a:ext cx="365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B91C1C"/>
                </a:solidFill>
                <a:latin typeface="Inter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847" y="2514600"/>
            <a:ext cx="4206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Inter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847" y="297180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 dirty="0">
                <a:solidFill>
                  <a:srgbClr val="6B7280"/>
                </a:solidFill>
                <a:latin typeface="Inter"/>
              </a:rPr>
              <a:t>the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3429000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74151"/>
                </a:solidFill>
                <a:latin typeface="Inter"/>
              </a:rPr>
              <a:t>Reasoning, planning, deciding what to do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9456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6598767" y="2328091"/>
            <a:ext cx="365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E7490"/>
                </a:solidFill>
                <a:latin typeface="Inter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1687" y="2514600"/>
            <a:ext cx="4206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Inter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687" y="2971800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>
                <a:solidFill>
                  <a:srgbClr val="6B7280"/>
                </a:solidFill>
                <a:latin typeface="Inter"/>
              </a:rPr>
              <a:t>the hands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3429000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Read files, write code, run scripts, call APIs.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167" y="429767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1020927" y="4431210"/>
            <a:ext cx="365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47857"/>
                </a:solidFill>
                <a:latin typeface="Inter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3847" y="4617719"/>
            <a:ext cx="4206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Inter"/>
              </a:rP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3847" y="5074919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>
                <a:solidFill>
                  <a:srgbClr val="6B7280"/>
                </a:solidFill>
                <a:latin typeface="Inter"/>
              </a:rPr>
              <a:t>the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927" y="5532119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Conversation history, project context, learned facts.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29767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6598767" y="4431210"/>
            <a:ext cx="365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B45309"/>
                </a:solidFill>
                <a:latin typeface="Inter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617719"/>
            <a:ext cx="4206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Inter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1687" y="5074919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>
                <a:solidFill>
                  <a:srgbClr val="6B7280"/>
                </a:solidFill>
                <a:latin typeface="Inter"/>
              </a:rPr>
              <a:t>the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8767" y="5532119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Breaking goals into steps, sequencing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8799" y="499744"/>
            <a:ext cx="1127729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dirty="0">
                <a:latin typeface="Inter"/>
              </a:rPr>
              <a:t>Pure workflows can't adapt. Pure agents won't impose discipline.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04" y="1421288"/>
            <a:ext cx="5029200" cy="3108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353304" y="1787048"/>
            <a:ext cx="411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Inter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04" y="2427128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Predefined code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04" y="2811176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04" y="3195224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You write the control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04" y="3579272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Like a 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04" y="3963320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Reliable but rigid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04" y="1421288"/>
            <a:ext cx="5029200" cy="3108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839704" y="1787048"/>
            <a:ext cx="411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Inter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04" y="2427128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LLM decides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04" y="2811176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Dynamic, adaptive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04" y="3195224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Agent chooses the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04" y="3579272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Like a research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04" y="3963320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Inter"/>
              </a:rPr>
              <a:t>→  Flexible but undirected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BF9FF-73B4-7840-9846-35DF0081E9DE}"/>
              </a:ext>
            </a:extLst>
          </p:cNvPr>
          <p:cNvSpPr txBox="1"/>
          <p:nvPr/>
        </p:nvSpPr>
        <p:spPr>
          <a:xfrm>
            <a:off x="558799" y="4942641"/>
            <a:ext cx="11277295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 b="1" dirty="0">
                <a:latin typeface="Inter"/>
              </a:rPr>
              <a:t>Skills fix the structure </a:t>
            </a:r>
          </a:p>
          <a:p>
            <a:pPr algn="ctr"/>
            <a:r>
              <a:rPr lang="en-US" sz="4800" b="1" dirty="0">
                <a:latin typeface="Inter"/>
              </a:rPr>
              <a:t>and let the agent fill in the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Claude Code IS 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dirty="0">
                <a:solidFill>
                  <a:srgbClr val="6B7280"/>
                </a:solidFill>
                <a:latin typeface="Inter"/>
              </a:rPr>
              <a:t>The four components, instantiated.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48495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645920" y="2176272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991B1B"/>
                </a:solidFill>
                <a:latin typeface="Inter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94560"/>
            <a:ext cx="68881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nlo"/>
              </a:rPr>
              <a:t>Claude Sonnet, Opus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88920"/>
            <a:ext cx="9448495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645920" y="2953512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991B1B"/>
                </a:solidFill>
                <a:latin typeface="Inter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71800"/>
            <a:ext cx="688817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nlo"/>
              </a:rPr>
              <a:t>Read · Write · Edit · Bash · Glob · Grep · WebFetch ·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566160"/>
            <a:ext cx="9448495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645920" y="3730752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991B1B"/>
                </a:solidFill>
                <a:latin typeface="Inter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40"/>
            <a:ext cx="68881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nlo"/>
              </a:rPr>
              <a:t>Conversation context + CLAUDE.md + auto-memory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43400"/>
            <a:ext cx="9448495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645920" y="4507992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991B1B"/>
                </a:solidFill>
                <a:latin typeface="Inter"/>
              </a:rPr>
              <a:t>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526280"/>
            <a:ext cx="68881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Menlo"/>
              </a:rPr>
              <a:t>Plan mode (Shift+Tab), task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49240"/>
            <a:ext cx="9448495" cy="100584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7490"/>
                </a:solidFill>
                <a:latin typeface="Inter"/>
              </a:rPr>
              <a:t>Subagents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966906"/>
            <a:ext cx="88998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74151"/>
                </a:solidFill>
                <a:latin typeface="Inter"/>
              </a:rPr>
              <a:t>Isolated sub-agent loops with their own context. Enable delegation, parallelism, sandboxing.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  <a:latin typeface="Inter"/>
              </a:rPr>
              <a:t>The Problem Agents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They can do anything, but they don't know YOUR methodology.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1086" y="2059186"/>
            <a:ext cx="9724571" cy="64008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885406" y="2242066"/>
            <a:ext cx="41678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Ask it to do Bayesian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5886" y="2242066"/>
            <a:ext cx="47231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E123C"/>
                </a:solidFill>
                <a:latin typeface="Inter"/>
              </a:rPr>
              <a:t>→  Skips prior predictive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1086" y="2836426"/>
            <a:ext cx="9724571" cy="64008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1885406" y="3019306"/>
            <a:ext cx="41678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Ask it to do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5886" y="3019306"/>
            <a:ext cx="47231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E123C"/>
                </a:solidFill>
                <a:latin typeface="Inter"/>
              </a:rPr>
              <a:t>→  Jumps straight to estimation without a DAG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1086" y="3613666"/>
            <a:ext cx="9724571" cy="64008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885406" y="3796546"/>
            <a:ext cx="41678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Ask it to do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5886" y="3796546"/>
            <a:ext cx="47231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E123C"/>
                </a:solidFill>
                <a:latin typeface="Inter"/>
              </a:rPr>
              <a:t>→  Picks arbitrary methods, forgets diagnostics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1086" y="4390906"/>
            <a:ext cx="9724571" cy="64008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885406" y="4573786"/>
            <a:ext cx="41678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Ask it to do Literature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5886" y="4573786"/>
            <a:ext cx="47231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E123C"/>
                </a:solidFill>
                <a:latin typeface="Inter"/>
              </a:rPr>
              <a:t>→  Misses systematic checks, fabricates 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4484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1A1A1A"/>
                </a:solidFill>
                <a:latin typeface="Inter"/>
              </a:rPr>
              <a:t>Agents are like brilliant but untrained research assistants.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35040"/>
            <a:ext cx="94484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i="0" dirty="0">
                <a:solidFill>
                  <a:srgbClr val="6B7280"/>
                </a:solidFill>
                <a:latin typeface="Inter"/>
              </a:rPr>
              <a:t>This is the problem skills solve.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  <a:latin typeface="Inter"/>
              </a:rPr>
              <a:t>What Is a Skill?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4160" y="1507867"/>
            <a:ext cx="65836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dirty="0">
                <a:solidFill>
                  <a:srgbClr val="6B7280"/>
                </a:solidFill>
                <a:latin typeface="Inter"/>
              </a:rPr>
              <a:t>A structured instruction manual that teaches an agent HOW to do a specific task the right 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255" y="2839998"/>
            <a:ext cx="2103120" cy="1645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670255" y="3251478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Inter"/>
              </a:rPr>
              <a:t>One-off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" y="3708678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Inter"/>
              </a:rPr>
              <a:t>one-shot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0535" y="2839998"/>
            <a:ext cx="2103120" cy="1645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910535" y="3251478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Inter"/>
              </a:rPr>
              <a:t>Custom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0535" y="3708678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Inter"/>
              </a:rPr>
              <a:t>reusable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0815" y="2839998"/>
            <a:ext cx="2103120" cy="1645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150815" y="3251478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Inter"/>
              </a:rPr>
              <a:t>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0815" y="3708678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Inter"/>
              </a:rPr>
              <a:t>always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1095" y="2839998"/>
            <a:ext cx="21031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254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391095" y="3251478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991B1B"/>
                </a:solidFill>
                <a:latin typeface="Inter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1095" y="3708678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B91C1C"/>
                </a:solidFill>
                <a:latin typeface="Inter"/>
              </a:rPr>
              <a:t>on-demand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5" y="2839998"/>
            <a:ext cx="2103120" cy="1645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9631375" y="3251478"/>
            <a:ext cx="2103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Inter"/>
              </a:rPr>
              <a:t>Subagent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3708678"/>
            <a:ext cx="2103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Inter"/>
              </a:rPr>
              <a:t>delegated isolated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Inter"/>
              </a:rPr>
              <a:t>Why Skills Matter for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dirty="0">
                <a:solidFill>
                  <a:srgbClr val="6B7280"/>
                </a:solidFill>
                <a:latin typeface="Inter"/>
              </a:rPr>
              <a:t>The before-and-after, item by item.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10312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1340967" y="2468880"/>
            <a:ext cx="411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BE123C"/>
                </a:solidFill>
                <a:latin typeface="Inter"/>
              </a:rPr>
              <a:t>Without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310896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Agent guesses your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352044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No validation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967" y="393192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Different results each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0967" y="434340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Generic, surface-level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0967" y="475488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Skips what it doesn't know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0312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6735927" y="2468880"/>
            <a:ext cx="411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47857"/>
                </a:solidFill>
                <a:latin typeface="Inter"/>
              </a:rPr>
              <a:t>With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5927" y="310896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Agent follows YOUR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52044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Mandatory checkpoints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93192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Consistent, reproducible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34340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Domain-appropriate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475488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374151"/>
                </a:solidFill>
                <a:latin typeface="Inter"/>
              </a:rPr>
              <a:t>•  Encodes community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 dirty="0">
                <a:solidFill>
                  <a:srgbClr val="6B7280"/>
                </a:solidFill>
                <a:latin typeface="Inter"/>
              </a:rPr>
              <a:t>Contains critical guardrails that agents won't apply unprompted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Skills vs. Everything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dirty="0">
                <a:solidFill>
                  <a:srgbClr val="6B7280"/>
                </a:solidFill>
                <a:latin typeface="Inter"/>
              </a:rPr>
              <a:t>Adjacent concepts. Distinct purposes.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48495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1737360" y="2148840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Inter"/>
              </a:rPr>
              <a:t>Skills  </a:t>
            </a:r>
            <a:r>
              <a:rPr lang="en-US" sz="2000" b="1" dirty="0">
                <a:solidFill>
                  <a:srgbClr val="1A1A1A"/>
                </a:solidFill>
                <a:latin typeface="Inter"/>
              </a:rPr>
              <a:t>VS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0558" y="2119813"/>
            <a:ext cx="87169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 i="0" dirty="0">
                <a:solidFill>
                  <a:srgbClr val="374151"/>
                </a:solidFill>
                <a:latin typeface="Inter"/>
              </a:rPr>
              <a:t>Reusable file on disk vs. one-off text you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9448495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1737360" y="3154680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Inter"/>
              </a:rPr>
              <a:t>Skills  </a:t>
            </a:r>
            <a:r>
              <a:rPr lang="en-US" sz="2000" b="1" dirty="0">
                <a:solidFill>
                  <a:srgbClr val="1A1A1A"/>
                </a:solidFill>
                <a:latin typeface="Inter"/>
              </a:rPr>
              <a:t>VS 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CLAUDE.md</a:t>
            </a:r>
            <a:endParaRPr sz="2000"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40558" y="3125653"/>
            <a:ext cx="87169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 i="0" dirty="0">
                <a:solidFill>
                  <a:srgbClr val="374151"/>
                </a:solidFill>
                <a:latin typeface="Inter"/>
              </a:rPr>
              <a:t>Invoked on demand vs. always active </a:t>
            </a:r>
            <a:endParaRPr lang="en-US" sz="2000" b="0" i="0" dirty="0">
              <a:solidFill>
                <a:srgbClr val="374151"/>
              </a:solidFill>
              <a:latin typeface="Inter"/>
            </a:endParaRPr>
          </a:p>
          <a:p>
            <a:pPr algn="r"/>
            <a:r>
              <a:rPr lang="en-US" sz="2000" b="0" i="0" dirty="0">
                <a:solidFill>
                  <a:srgbClr val="374151"/>
                </a:solidFill>
                <a:latin typeface="Inter"/>
              </a:rPr>
              <a:t>(lab protocol vs. dress code</a:t>
            </a:r>
            <a:r>
              <a:rPr sz="2000" b="0" i="0" dirty="0">
                <a:solidFill>
                  <a:srgbClr val="374151"/>
                </a:solidFill>
                <a:latin typeface="Inter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23360"/>
            <a:ext cx="9448495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737360" y="4160520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Inter"/>
              </a:rPr>
              <a:t>Skills  </a:t>
            </a:r>
            <a:r>
              <a:rPr lang="en-US" sz="2000" b="1" i="0" dirty="0">
                <a:solidFill>
                  <a:srgbClr val="1A1A1A"/>
                </a:solidFill>
                <a:latin typeface="Inter"/>
              </a:rPr>
              <a:t>VS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0558" y="4131493"/>
            <a:ext cx="87169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 i="0" dirty="0">
                <a:solidFill>
                  <a:srgbClr val="374151"/>
                </a:solidFill>
                <a:latin typeface="Inter"/>
              </a:rPr>
              <a:t>Workflow instructions vs. tool connectivity </a:t>
            </a:r>
            <a:endParaRPr lang="en-US" sz="2000" b="0" i="0" dirty="0">
              <a:solidFill>
                <a:srgbClr val="374151"/>
              </a:solidFill>
              <a:latin typeface="Inter"/>
            </a:endParaRPr>
          </a:p>
          <a:p>
            <a:pPr algn="r"/>
            <a:r>
              <a:rPr sz="2000" b="0" i="0" dirty="0">
                <a:solidFill>
                  <a:srgbClr val="374151"/>
                </a:solidFill>
                <a:latin typeface="Inter"/>
              </a:rPr>
              <a:t>(assembly manual vs. screwdriver)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029200"/>
            <a:ext cx="9448495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Inter"/>
              </a:rPr>
              <a:t>Skills  </a:t>
            </a:r>
            <a:r>
              <a:rPr lang="en-US" sz="2000" b="1" i="0" dirty="0">
                <a:solidFill>
                  <a:srgbClr val="1A1A1A"/>
                </a:solidFill>
                <a:latin typeface="Inter"/>
              </a:rPr>
              <a:t>VS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 Subagents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0558" y="5137333"/>
            <a:ext cx="87169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0" i="0">
                <a:solidFill>
                  <a:srgbClr val="374151"/>
                </a:solidFill>
                <a:latin typeface="Inter"/>
              </a:rPr>
              <a:t>Methodology guidance vs. task delegation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Anatomy of a </a:t>
            </a:r>
            <a:r>
              <a:rPr sz="4800" b="1" i="0" dirty="0" err="1">
                <a:solidFill>
                  <a:srgbClr val="1A1A1A"/>
                </a:solidFill>
                <a:latin typeface="Inter"/>
              </a:rPr>
              <a:t>SKILL.md</a:t>
            </a:r>
            <a:r>
              <a:rPr sz="4800" b="1" i="0" dirty="0">
                <a:solidFill>
                  <a:srgbClr val="1A1A1A"/>
                </a:solidFill>
                <a:latin typeface="Inter"/>
              </a:rPr>
              <a:t>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A methodology encoded as markdown.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79508"/>
            <a:ext cx="7772400" cy="470837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280160" y="1779508"/>
            <a:ext cx="7040880" cy="43740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i="0" dirty="0">
                <a:solidFill>
                  <a:srgbClr val="9CA3AF"/>
                </a:solidFill>
                <a:latin typeface="Menlo"/>
              </a:rPr>
              <a:t>---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1A1A1A"/>
                </a:solidFill>
                <a:latin typeface="Menlo"/>
              </a:rPr>
              <a:t>name: my-research-skill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1A1A1A"/>
                </a:solidFill>
                <a:latin typeface="Menlo"/>
              </a:rPr>
              <a:t>description: &gt;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047857"/>
                </a:solidFill>
                <a:latin typeface="Menlo"/>
              </a:rPr>
              <a:t>  Opinionated workflow for X.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047857"/>
                </a:solidFill>
                <a:latin typeface="Menlo"/>
              </a:rPr>
              <a:t>  Use when asked to do Y or Z.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9CA3AF"/>
                </a:solidFill>
                <a:latin typeface="Menlo"/>
              </a:rPr>
              <a:t>---</a:t>
            </a:r>
          </a:p>
          <a:p>
            <a:pPr algn="l">
              <a:lnSpc>
                <a:spcPct val="120000"/>
              </a:lnSpc>
            </a:pPr>
            <a:endParaRPr sz="1400" b="0" i="0" dirty="0">
              <a:solidFill>
                <a:srgbClr val="9CA3AF"/>
              </a:solidFill>
              <a:latin typeface="Menlo"/>
            </a:endParaRPr>
          </a:p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rgbClr val="991B1B"/>
                </a:solidFill>
                <a:latin typeface="Menlo"/>
              </a:rPr>
              <a:t># Skill Name</a:t>
            </a:r>
          </a:p>
          <a:p>
            <a:pPr algn="l">
              <a:lnSpc>
                <a:spcPct val="120000"/>
              </a:lnSpc>
            </a:pPr>
            <a:endParaRPr sz="1400" b="1" i="0" dirty="0">
              <a:solidFill>
                <a:srgbClr val="991B1B"/>
              </a:solidFill>
              <a:latin typeface="Menlo"/>
            </a:endParaRPr>
          </a:p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rgbClr val="991B1B"/>
                </a:solidFill>
                <a:latin typeface="Menlo"/>
              </a:rPr>
              <a:t>## Workflow overview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1A1A1A"/>
                </a:solidFill>
                <a:latin typeface="Menlo"/>
              </a:rPr>
              <a:t>1. **Think** -- Define the question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B45309"/>
                </a:solidFill>
                <a:latin typeface="Menlo"/>
              </a:rPr>
              <a:t>2. **Validate** -- Check assumptions   ⚠️ ASK USER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1A1A1A"/>
                </a:solidFill>
                <a:latin typeface="Menlo"/>
              </a:rPr>
              <a:t>3. **Implement** -- Write the code</a:t>
            </a:r>
          </a:p>
          <a:p>
            <a:pPr algn="l">
              <a:lnSpc>
                <a:spcPct val="120000"/>
              </a:lnSpc>
            </a:pPr>
            <a:endParaRPr sz="1400" b="0" i="0" dirty="0">
              <a:solidFill>
                <a:srgbClr val="1A1A1A"/>
              </a:solidFill>
              <a:latin typeface="Menlo"/>
            </a:endParaRPr>
          </a:p>
          <a:p>
            <a:pPr algn="l">
              <a:lnSpc>
                <a:spcPct val="120000"/>
              </a:lnSpc>
            </a:pPr>
            <a:r>
              <a:rPr sz="1400" b="1" i="0" dirty="0">
                <a:solidFill>
                  <a:srgbClr val="991B1B"/>
                </a:solidFill>
                <a:latin typeface="Menlo"/>
              </a:rPr>
              <a:t>## Critical rules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1A1A1A"/>
                </a:solidFill>
                <a:latin typeface="Menlo"/>
              </a:rPr>
              <a:t>- Always do X before Y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1A1A1A"/>
                </a:solidFill>
                <a:latin typeface="Menlo"/>
              </a:rPr>
              <a:t>- Never skip step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Case Study: Bayesian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439" y="1734681"/>
            <a:ext cx="3426526" cy="3735977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438" y="1737133"/>
            <a:ext cx="3388767" cy="6155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584759" y="1972715"/>
            <a:ext cx="2892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0E7490"/>
                </a:solidFill>
                <a:latin typeface="Inter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758" y="2427557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0E7490"/>
                </a:solidFill>
                <a:latin typeface="Menlo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798" y="2373038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Inter"/>
              </a:rPr>
              <a:t>Generative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798" y="2649717"/>
            <a:ext cx="260356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How were the data generated, in prose, before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758" y="3140789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Menlo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798" y="3086270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Inter"/>
              </a:rPr>
              <a:t>Specify priors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798" y="3362949"/>
            <a:ext cx="260356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With documented rationale, not 'Normal(0,1) and vibes'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758" y="3854021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7490"/>
                </a:solidFill>
                <a:latin typeface="Menlo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98" y="3799502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Inter"/>
              </a:rPr>
              <a:t>Implement in PyMC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798" y="4069695"/>
            <a:ext cx="260356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coords, dims,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nutpie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sampler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079" y="1734681"/>
            <a:ext cx="3426526" cy="3735977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8078" y="1737133"/>
            <a:ext cx="3388767" cy="6155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4562399" y="1972715"/>
            <a:ext cx="2892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B45309"/>
                </a:solidFill>
                <a:latin typeface="Inter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398" y="2427557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Menlo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438" y="2373038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Inter"/>
              </a:rPr>
              <a:t>Prior predictive checks</a:t>
            </a:r>
            <a:r>
              <a:rPr lang="en-US" b="1" i="0" dirty="0">
                <a:solidFill>
                  <a:srgbClr val="1A1A1A"/>
                </a:solidFill>
                <a:latin typeface="Inter"/>
              </a:rPr>
              <a:t> !</a:t>
            </a:r>
            <a:endParaRPr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82438" y="2643231"/>
            <a:ext cx="260356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Mandatory before sampling — the #1 violation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398" y="3140789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Menlo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438" y="3086270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Inter"/>
              </a:rPr>
              <a:t>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438" y="3356463"/>
            <a:ext cx="260356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Inter"/>
              </a:rPr>
              <a:t>nutpie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, reproducible seeds from analysis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398" y="3854021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Menlo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2438" y="3799502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Inter"/>
              </a:rPr>
              <a:t>Convergence diagnostics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438" y="4069695"/>
            <a:ext cx="260356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R̂ &lt; 1.01, ESS, divergences, E-BFMI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5718" y="1734681"/>
            <a:ext cx="3388767" cy="3735977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65718" y="1737133"/>
            <a:ext cx="3388767" cy="61556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8540039" y="1972715"/>
            <a:ext cx="2892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47857"/>
                </a:solidFill>
                <a:latin typeface="Inter"/>
              </a:rPr>
              <a:t>CRITICIZE &amp;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038" y="2427557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Menlo"/>
              </a:rPr>
              <a:t>7.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078" y="2373038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Inter"/>
              </a:rPr>
              <a:t>Posterior predictive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078" y="2643231"/>
            <a:ext cx="260356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Model criticism + LOO-PIT 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038" y="3140789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Menlo"/>
              </a:rPr>
              <a:t>8.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078" y="3086270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Inter"/>
              </a:rPr>
              <a:t>Prior sensitivity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0078" y="3356463"/>
            <a:ext cx="260356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psense_summary on the InferenceData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038" y="3854021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Menlo"/>
              </a:rPr>
              <a:t>9.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0078" y="3799502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1A1A1A"/>
                </a:solidFill>
                <a:latin typeface="Inter"/>
              </a:rPr>
              <a:t>Model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078" y="4076181"/>
            <a:ext cx="260356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6B7280"/>
                </a:solidFill>
                <a:latin typeface="Inter"/>
              </a:rPr>
              <a:t>LOO-CV, ELPD with SE, prefer simpler when diff ≈ 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038" y="4567253"/>
            <a:ext cx="3306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Menlo"/>
              </a:rPr>
              <a:t>10.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0078" y="4512734"/>
            <a:ext cx="260356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1A1A1A"/>
                </a:solidFill>
                <a:latin typeface="Inter"/>
              </a:rPr>
              <a:t>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0078" y="4789413"/>
            <a:ext cx="2603565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94% HDI, no frequentist language, companion markdown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199" y="6009399"/>
            <a:ext cx="112772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1" dirty="0">
                <a:solidFill>
                  <a:srgbClr val="6B7280"/>
                </a:solidFill>
                <a:latin typeface="Inter"/>
              </a:rPr>
              <a:t>Step 4 (prior predictive checks) is the step </a:t>
            </a:r>
            <a:r>
              <a:rPr sz="2000" b="0" i="1" dirty="0" err="1">
                <a:solidFill>
                  <a:srgbClr val="6B7280"/>
                </a:solidFill>
                <a:latin typeface="Inter"/>
              </a:rPr>
              <a:t>unscaffolded</a:t>
            </a:r>
            <a:r>
              <a:rPr sz="2000" b="0" i="1" dirty="0">
                <a:solidFill>
                  <a:srgbClr val="6B7280"/>
                </a:solidFill>
                <a:latin typeface="Inter"/>
              </a:rPr>
              <a:t> agents skip most often. The skill makes it mandatory.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Bayesian Workflow </a:t>
            </a:r>
            <a:r>
              <a:rPr lang="en-US" sz="4800" b="1" i="0" dirty="0">
                <a:solidFill>
                  <a:srgbClr val="1A1A1A"/>
                </a:solidFill>
                <a:latin typeface="Inter"/>
              </a:rPr>
              <a:t>: </a:t>
            </a:r>
            <a:r>
              <a:rPr sz="4800" b="1" i="0" dirty="0">
                <a:solidFill>
                  <a:srgbClr val="1A1A1A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Reproducible empirical claims, verified against benchmark.json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28600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6607" y="278892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 i="0">
                <a:solidFill>
                  <a:srgbClr val="047857"/>
                </a:solidFill>
                <a:latin typeface="Inter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3794760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with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4160519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Inter"/>
              </a:rPr>
              <a:t>53/53 individual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9807" y="228600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89807" y="278892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 i="0">
                <a:solidFill>
                  <a:srgbClr val="BE123C"/>
                </a:solidFill>
                <a:latin typeface="Inter"/>
              </a:rPr>
              <a:t>90.5%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9807" y="3794760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without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9807" y="4160519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Inter"/>
              </a:rPr>
              <a:t>48/53 individual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28600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3007" y="278892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 i="0">
                <a:solidFill>
                  <a:srgbClr val="B45309"/>
                </a:solidFill>
                <a:latin typeface="Inter"/>
              </a:rPr>
              <a:t>+29%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3794760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wall-clock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4160519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Inter"/>
              </a:rPr>
              <a:t>the cost of rigor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6207" y="228600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76207" y="278892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600" b="1" i="0">
                <a:solidFill>
                  <a:srgbClr val="B45309"/>
                </a:solidFill>
                <a:latin typeface="Inter"/>
              </a:rPr>
              <a:t>+87%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6207" y="3794760"/>
            <a:ext cx="2468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token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6207" y="4160519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Inter"/>
              </a:rPr>
              <a:t>paid once per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13496"/>
            <a:ext cx="1036289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dirty="0">
                <a:solidFill>
                  <a:srgbClr val="374151"/>
                </a:solidFill>
                <a:latin typeface="Inter"/>
              </a:rPr>
              <a:t>Six scenarios. </a:t>
            </a:r>
            <a:endParaRPr lang="en-US" sz="2000" b="0" i="0" dirty="0">
              <a:solidFill>
                <a:srgbClr val="374151"/>
              </a:solidFill>
              <a:latin typeface="Inter"/>
            </a:endParaRPr>
          </a:p>
          <a:p>
            <a:pPr algn="ctr"/>
            <a:r>
              <a:rPr sz="2000" b="0" i="0" dirty="0">
                <a:solidFill>
                  <a:srgbClr val="374151"/>
                </a:solidFill>
                <a:latin typeface="Inter"/>
              </a:rPr>
              <a:t>53 of 53 checks pass with the skill; 48 of 53 without. </a:t>
            </a:r>
            <a:endParaRPr lang="en-US" sz="2000" b="0" i="0" dirty="0">
              <a:solidFill>
                <a:srgbClr val="374151"/>
              </a:solidFill>
              <a:latin typeface="Inter"/>
            </a:endParaRPr>
          </a:p>
          <a:p>
            <a:pPr algn="ctr"/>
            <a:r>
              <a:rPr sz="2000" b="0" i="0" dirty="0">
                <a:solidFill>
                  <a:srgbClr val="374151"/>
                </a:solidFill>
                <a:latin typeface="Inter"/>
              </a:rPr>
              <a:t>Without-skill range across scenarios: 88% – 100%.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55080"/>
            <a:ext cx="103628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 err="1">
                <a:solidFill>
                  <a:srgbClr val="6B7280"/>
                </a:solidFill>
                <a:latin typeface="Menlo"/>
              </a:rPr>
              <a:t>baygent</a:t>
            </a:r>
            <a:r>
              <a:rPr sz="1200" b="0" i="0" dirty="0">
                <a:solidFill>
                  <a:srgbClr val="6B7280"/>
                </a:solidFill>
                <a:latin typeface="Menlo"/>
              </a:rPr>
              <a:t>-skills/evals/</a:t>
            </a:r>
            <a:r>
              <a:rPr sz="1200" b="0" i="0" dirty="0" err="1">
                <a:solidFill>
                  <a:srgbClr val="6B7280"/>
                </a:solidFill>
                <a:latin typeface="Menlo"/>
              </a:rPr>
              <a:t>bayesian</a:t>
            </a:r>
            <a:r>
              <a:rPr sz="1200" b="0" i="0" dirty="0">
                <a:solidFill>
                  <a:srgbClr val="6B7280"/>
                </a:solidFill>
                <a:latin typeface="Menlo"/>
              </a:rPr>
              <a:t>-workflow/iteration-1/</a:t>
            </a:r>
            <a:r>
              <a:rPr sz="1200" b="0" i="0" dirty="0" err="1">
                <a:solidFill>
                  <a:srgbClr val="6B7280"/>
                </a:solidFill>
                <a:latin typeface="Menlo"/>
              </a:rPr>
              <a:t>benchmark.json</a:t>
            </a:r>
            <a:endParaRPr sz="1200" b="0" i="0" dirty="0">
              <a:solidFill>
                <a:srgbClr val="6B7280"/>
              </a:solidFill>
              <a:latin typeface="Menl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000" b="1" i="1" dirty="0">
                <a:solidFill>
                  <a:srgbClr val="1A1A1A"/>
                </a:solidFill>
                <a:latin typeface="Inter"/>
              </a:rPr>
              <a:t>Evals Catch the Predictable. Real Research Does the Rest</a:t>
            </a:r>
            <a:endParaRPr sz="3000" b="1" i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599" y="971603"/>
            <a:ext cx="944849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1" dirty="0">
                <a:solidFill>
                  <a:srgbClr val="6B7280"/>
                </a:solidFill>
                <a:latin typeface="Inter"/>
              </a:rPr>
              <a:t>The synthetic benchmark passed at v1.0. Then Andorra applied the skill to his own research</a:t>
            </a:r>
            <a:r>
              <a:rPr lang="en-US" b="0" i="1" dirty="0">
                <a:solidFill>
                  <a:srgbClr val="6B7280"/>
                </a:solidFill>
                <a:latin typeface="Inter"/>
              </a:rPr>
              <a:t> on a</a:t>
            </a:r>
            <a:r>
              <a:rPr b="0" i="1" dirty="0">
                <a:solidFill>
                  <a:srgbClr val="6B7280"/>
                </a:solidFill>
                <a:latin typeface="Inter"/>
              </a:rPr>
              <a:t> Soccer Factor Model, an ordered logistic hierarchical model across 5 European leagues, </a:t>
            </a:r>
            <a:endParaRPr lang="en-US" b="0" i="1" dirty="0">
              <a:solidFill>
                <a:srgbClr val="6B7280"/>
              </a:solidFill>
              <a:latin typeface="Inter"/>
            </a:endParaRPr>
          </a:p>
          <a:p>
            <a:pPr algn="ctr"/>
            <a:r>
              <a:rPr b="0" i="1" dirty="0">
                <a:solidFill>
                  <a:srgbClr val="6B7280"/>
                </a:solidFill>
                <a:latin typeface="Inter"/>
              </a:rPr>
              <a:t>~10,000 matches, 30+ features. Three bugs surfaced that the benchmark had not caught.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5935" y="2293257"/>
            <a:ext cx="3657600" cy="4034971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670255" y="2481216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BE123C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3175" y="2499504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Median ≠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" y="315042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BE123C"/>
                </a:solidFill>
                <a:latin typeface="Inter"/>
              </a:rPr>
              <a:t>WHAT BROKE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" y="3333300"/>
            <a:ext cx="31089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Inter"/>
              </a:rPr>
              <a:t>Skill computed predictions with the posterior median.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" y="4145373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BE123C"/>
                </a:solidFill>
                <a:latin typeface="Inter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" y="4328253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Medians don't commute with nonlinear transforms — the median of probabilities is not a probability.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" y="5262969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047857"/>
                </a:solidFill>
                <a:latin typeface="Inter"/>
              </a:rPr>
              <a:t>FIX IN V1.1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" y="5445849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  <a:latin typeface="Inter"/>
              </a:rPr>
              <a:t>v1.1 critical rule: always use the posterior mean for predictive probabilities.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6415" y="2293257"/>
            <a:ext cx="3657600" cy="4034971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4510735" y="2481216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BE123C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3655" y="2499504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No Sparsity Priors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0735" y="315042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E123C"/>
                </a:solidFill>
                <a:latin typeface="Inter"/>
              </a:rPr>
              <a:t>WHAT BROKE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0735" y="3333300"/>
            <a:ext cx="31089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Inter"/>
              </a:rPr>
              <a:t>Skill had no guidance for 30+ feature regression.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0735" y="4145373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E123C"/>
                </a:solidFill>
                <a:latin typeface="Inter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0735" y="4328253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Default priors don't shrink enough; coefficients overfit and become uninterpretable.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0735" y="5262969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Inter"/>
              </a:rPr>
              <a:t>FIX IN V1.1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0735" y="5445849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  <a:latin typeface="Inter"/>
              </a:rPr>
              <a:t>v1.1 added regularized (Finnish) horseshoe priors. Cites Piironen &amp; Vehtari (2017).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6895" y="2293257"/>
            <a:ext cx="3657600" cy="4034971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8351215" y="2481216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BE123C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4135" y="2499504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Aggregate ≠ Per-Class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215" y="3150420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E123C"/>
                </a:solidFill>
                <a:latin typeface="Inter"/>
              </a:rPr>
              <a:t>WHAT BROKE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215" y="3333300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Inter"/>
              </a:rPr>
              <a:t>Diagnostics passed at the aggregate level but missed per-class miscalibration.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1215" y="4145373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E123C"/>
                </a:solidFill>
                <a:latin typeface="Inter"/>
              </a:rPr>
              <a:t>WHY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1215" y="4328253"/>
            <a:ext cx="31089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Ordered outcomes can be jointly calibrated yet wrong on individual classes.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215" y="5262969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7857"/>
                </a:solidFill>
                <a:latin typeface="Inter"/>
              </a:rPr>
              <a:t>FIX IN V1.1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215" y="5445849"/>
            <a:ext cx="31089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47857"/>
                </a:solidFill>
                <a:latin typeface="Inter"/>
              </a:rPr>
              <a:t>v1.1 added per-class calibration plots and Expected Calibration Error (ECE).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  <a:latin typeface="Inter"/>
              </a:rPr>
              <a:t>Case Study: Causal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The thinking-first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210312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Rectangle 5"/>
          <p:cNvSpPr/>
          <p:nvPr/>
        </p:nvSpPr>
        <p:spPr>
          <a:xfrm>
            <a:off x="883767" y="2103120"/>
            <a:ext cx="5029200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49527" y="2377440"/>
            <a:ext cx="4297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Thinking Phase  (no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527" y="297180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7490"/>
                </a:solidFill>
                <a:latin typeface="Menlo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5287" y="297180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Formulate causal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9527" y="347472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7490"/>
                </a:solidFill>
                <a:latin typeface="Menlo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347472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Draw the 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177" y="3548426"/>
            <a:ext cx="17272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B45309"/>
                </a:solidFill>
                <a:latin typeface="Inter"/>
              </a:rPr>
              <a:t> </a:t>
            </a:r>
            <a:r>
              <a:rPr b="1" i="0" dirty="0">
                <a:solidFill>
                  <a:srgbClr val="B45309"/>
                </a:solidFill>
                <a:latin typeface="Inter"/>
              </a:rPr>
              <a:t>CONFIRM</a:t>
            </a:r>
            <a:endParaRPr sz="1400" b="1" i="0" dirty="0">
              <a:solidFill>
                <a:srgbClr val="B4530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9527" y="397764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7490"/>
                </a:solidFill>
                <a:latin typeface="Menlo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5287" y="397764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Identify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9527" y="448056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7490"/>
                </a:solidFill>
                <a:latin typeface="Menlo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287" y="448056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Choose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10312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Rectangle 19"/>
          <p:cNvSpPr/>
          <p:nvPr/>
        </p:nvSpPr>
        <p:spPr>
          <a:xfrm>
            <a:off x="6278727" y="2103120"/>
            <a:ext cx="5029200" cy="6400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6644487" y="2377440"/>
            <a:ext cx="42976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Inter"/>
              </a:rPr>
              <a:t>Doing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297180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47857"/>
                </a:solidFill>
                <a:latin typeface="Menlo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297180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Estimate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347472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47857"/>
                </a:solidFill>
                <a:latin typeface="Menlo"/>
              </a:rP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247" y="347472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Mandatory refutation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397764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47857"/>
                </a:solidFill>
                <a:latin typeface="Menlo"/>
              </a:rPr>
              <a:t>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0247" y="397764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Interpret with intervals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4480560"/>
            <a:ext cx="4935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47857"/>
                </a:solidFill>
                <a:latin typeface="Menlo"/>
              </a:rPr>
              <a:t>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0247" y="4480560"/>
            <a:ext cx="37012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Report assumptions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Key rule: "No estimation without a confirmed DAG."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EBFE8B-7962-6CD9-C556-EE78518AD6FC}"/>
              </a:ext>
            </a:extLst>
          </p:cNvPr>
          <p:cNvSpPr txBox="1"/>
          <p:nvPr/>
        </p:nvSpPr>
        <p:spPr>
          <a:xfrm>
            <a:off x="2908557" y="4107142"/>
            <a:ext cx="17272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B45309"/>
                </a:solidFill>
                <a:latin typeface="Inter"/>
              </a:rPr>
              <a:t> </a:t>
            </a:r>
            <a:r>
              <a:rPr b="1" i="0" dirty="0">
                <a:solidFill>
                  <a:srgbClr val="B45309"/>
                </a:solidFill>
                <a:latin typeface="Inter"/>
              </a:rPr>
              <a:t>CONFIRM</a:t>
            </a:r>
            <a:endParaRPr sz="1400" b="1" i="0" dirty="0">
              <a:solidFill>
                <a:srgbClr val="B45309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9F3E2C-D056-57AA-8B36-9A8448A46267}"/>
              </a:ext>
            </a:extLst>
          </p:cNvPr>
          <p:cNvSpPr txBox="1"/>
          <p:nvPr/>
        </p:nvSpPr>
        <p:spPr>
          <a:xfrm>
            <a:off x="2754311" y="4558177"/>
            <a:ext cx="17272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B45309"/>
                </a:solidFill>
                <a:latin typeface="Inter"/>
              </a:rPr>
              <a:t> </a:t>
            </a:r>
            <a:r>
              <a:rPr b="1" i="0" dirty="0">
                <a:solidFill>
                  <a:srgbClr val="B45309"/>
                </a:solidFill>
                <a:latin typeface="Inter"/>
              </a:rPr>
              <a:t>CONFIRM</a:t>
            </a:r>
            <a:endParaRPr sz="1400" b="1" i="0" dirty="0">
              <a:solidFill>
                <a:srgbClr val="B4530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  <a:latin typeface="Inter"/>
              </a:rPr>
              <a:t>More Skills in the Wild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99" y="1488004"/>
            <a:ext cx="5304971" cy="46456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822959" y="1711782"/>
            <a:ext cx="424397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Inter"/>
              </a:rPr>
              <a:t>Test-Driven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3679"/>
            <a:ext cx="424397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6B7280"/>
                </a:solidFill>
                <a:latin typeface="Menlo"/>
              </a:rPr>
              <a:t>github.com</a:t>
            </a:r>
            <a:r>
              <a:rPr sz="1200" b="0" i="0" dirty="0">
                <a:solidFill>
                  <a:srgbClr val="6B7280"/>
                </a:solidFill>
                <a:latin typeface="Menlo"/>
              </a:rPr>
              <a:t>/</a:t>
            </a:r>
            <a:r>
              <a:rPr sz="1200" b="0" i="0" dirty="0" err="1">
                <a:solidFill>
                  <a:srgbClr val="6B7280"/>
                </a:solidFill>
                <a:latin typeface="Menlo"/>
              </a:rPr>
              <a:t>obra</a:t>
            </a:r>
            <a:r>
              <a:rPr sz="1200" b="0" i="0" dirty="0">
                <a:solidFill>
                  <a:srgbClr val="6B7280"/>
                </a:solidFill>
                <a:latin typeface="Menlo"/>
              </a:rPr>
              <a:t>/superpowers · Jesse Vincent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66599"/>
            <a:ext cx="424397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374151"/>
                </a:solidFill>
                <a:latin typeface="Inter"/>
              </a:rPr>
              <a:t>RED → GREEN → REFACTOR. If the agent writes code before a failing test, the skill instructs it to delete the code and start 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85799"/>
            <a:ext cx="29260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>
                <a:solidFill>
                  <a:srgbClr val="047857"/>
                </a:solidFill>
                <a:latin typeface="Inter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634735"/>
            <a:ext cx="4243977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374151"/>
                </a:solidFill>
                <a:latin typeface="Inter"/>
              </a:rPr>
              <a:t>Encodes a 20-year-old discipline that expert programmers know but routinely skip under deadline pressure. The skill removes the option to skip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8365" y="1462346"/>
            <a:ext cx="5304971" cy="46456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884125" y="1686124"/>
            <a:ext cx="424397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Inter"/>
              </a:rPr>
              <a:t>Math Olympiad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4125" y="2438021"/>
            <a:ext cx="424397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B7280"/>
                </a:solidFill>
                <a:latin typeface="Menlo"/>
              </a:rPr>
              <a:t>Anthropic official Claude Code plugin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4125" y="2940941"/>
            <a:ext cx="4243977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374151"/>
                </a:solidFill>
                <a:latin typeface="Inter"/>
              </a:rPr>
              <a:t>400+ lines orchestrating 8–12 parallel solver subagents · fresh verifiers blind to solver reasoning</a:t>
            </a:r>
            <a:r>
              <a:rPr lang="en-US" sz="1600" b="0" i="0" dirty="0">
                <a:solidFill>
                  <a:srgbClr val="374151"/>
                </a:solidFill>
                <a:latin typeface="Inter"/>
              </a:rPr>
              <a:t> </a:t>
            </a:r>
            <a:r>
              <a:rPr sz="1600" b="0" i="0" dirty="0">
                <a:solidFill>
                  <a:srgbClr val="374151"/>
                </a:solidFill>
                <a:latin typeface="Inter"/>
              </a:rPr>
              <a:t>asymmetric voting (4 to confirm, 2 to refute) · revision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4125" y="4160141"/>
            <a:ext cx="42439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B45309"/>
                </a:solidFill>
                <a:latin typeface="Inter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4125" y="4609077"/>
            <a:ext cx="424397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374151"/>
                </a:solidFill>
                <a:latin typeface="Inter"/>
              </a:rPr>
              <a:t>Shows skills scale all the way to multi-agent orchestration. Calibrated abstention lets the agent refuse instead of confabulating</a:t>
            </a:r>
            <a:r>
              <a:rPr lang="en-US" sz="1600" b="0" i="0" dirty="0">
                <a:solidFill>
                  <a:srgbClr val="374151"/>
                </a:solidFill>
                <a:latin typeface="Inter"/>
              </a:rPr>
              <a:t>. </a:t>
            </a:r>
            <a:endParaRPr sz="1600" b="0" i="0" dirty="0">
              <a:solidFill>
                <a:srgbClr val="37415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The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baygent-skills · MIT licensed · open it, read it, fork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7589520" cy="3840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5176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Menlo"/>
              </a:rPr>
              <a:t>bayesian-workflow/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603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├── SKILL.md   # 14KB · v1.2 · Alex Andorra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76148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├── 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96265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├── 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16382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├── pyproject.toml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649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├── references/   # progressive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5661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├── priors.md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6732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├── diagnostics.md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96849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├── hierarchical.md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16966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├── model-criticism.md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7083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├── model-comparison.md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57200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├── sensitivity.md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77316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│   └── reporting.md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97433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└── scripts/   # executable 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17550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    ├── diagnose_model.py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37667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Menlo"/>
              </a:rPr>
              <a:t>    └── calibration_check.py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772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047857"/>
                </a:solidFill>
                <a:latin typeface="Menlo"/>
              </a:rPr>
              <a:t>$ git clone </a:t>
            </a:r>
            <a:r>
              <a:rPr sz="2000" b="0" i="0" dirty="0">
                <a:solidFill>
                  <a:srgbClr val="047857"/>
                </a:solidFill>
                <a:latin typeface="Menlo"/>
              </a:rPr>
              <a:t>https</a:t>
            </a:r>
            <a:r>
              <a:rPr b="0" i="0" dirty="0">
                <a:solidFill>
                  <a:srgbClr val="047857"/>
                </a:solidFill>
                <a:latin typeface="Menlo"/>
              </a:rPr>
              <a:t>://</a:t>
            </a:r>
            <a:r>
              <a:rPr b="0" i="0" dirty="0" err="1">
                <a:solidFill>
                  <a:srgbClr val="047857"/>
                </a:solidFill>
                <a:latin typeface="Menlo"/>
              </a:rPr>
              <a:t>github.com</a:t>
            </a:r>
            <a:r>
              <a:rPr b="0" i="0" dirty="0">
                <a:solidFill>
                  <a:srgbClr val="047857"/>
                </a:solidFill>
                <a:latin typeface="Menlo"/>
              </a:rPr>
              <a:t>/Learning-Bayesian-Statistics/</a:t>
            </a:r>
            <a:r>
              <a:rPr b="0" i="0" dirty="0" err="1">
                <a:solidFill>
                  <a:srgbClr val="047857"/>
                </a:solidFill>
                <a:latin typeface="Menlo"/>
              </a:rPr>
              <a:t>baygent</a:t>
            </a:r>
            <a:r>
              <a:rPr b="0" i="0" dirty="0">
                <a:solidFill>
                  <a:srgbClr val="047857"/>
                </a:solidFill>
                <a:latin typeface="Menlo"/>
              </a:rPr>
              <a:t>-skills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  <a:latin typeface="Inter"/>
              </a:rPr>
              <a:t>Thinking About YOUR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Four questions to elicit your skill.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48495" cy="8686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1645920" y="2331720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6B7280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267712"/>
            <a:ext cx="8259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Inter"/>
              </a:rPr>
              <a:t>What task do you do repeatedly?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606040"/>
            <a:ext cx="82597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>
                <a:solidFill>
                  <a:srgbClr val="6B7280"/>
                </a:solidFill>
                <a:latin typeface="Inter"/>
              </a:rPr>
              <a:t>data cleaning, model fitting, lit review, reviewing a paper…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063240"/>
            <a:ext cx="9448495" cy="8686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6B7280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227832"/>
            <a:ext cx="8259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1A1A1A"/>
                </a:solidFill>
                <a:latin typeface="Inter"/>
              </a:rPr>
              <a:t>What does your advisor always remind you about?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566160"/>
            <a:ext cx="82597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 dirty="0">
                <a:solidFill>
                  <a:srgbClr val="6B7280"/>
                </a:solidFill>
                <a:latin typeface="Inter"/>
              </a:rPr>
              <a:t>→ those are your critical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23360"/>
            <a:ext cx="9448495" cy="8686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1645920" y="4251960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6B7280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187952"/>
            <a:ext cx="8259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What mistakes have you wished you'd been warned about?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526280"/>
            <a:ext cx="82597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>
                <a:solidFill>
                  <a:srgbClr val="6B7280"/>
                </a:solidFill>
                <a:latin typeface="Inter"/>
              </a:rPr>
              <a:t>→ those are your common gotchas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983480"/>
            <a:ext cx="9448495" cy="8686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1645920" y="5212080"/>
            <a:ext cx="457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991B1B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148072"/>
            <a:ext cx="8259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Inter"/>
              </a:rPr>
              <a:t>What would a new lab member need to know?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486400"/>
            <a:ext cx="82597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>
                <a:solidFill>
                  <a:srgbClr val="991B1B"/>
                </a:solidFill>
                <a:latin typeface="Inter"/>
              </a:rPr>
              <a:t>→ that IS your skill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Hands-On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47" y="2351314"/>
            <a:ext cx="5402196" cy="3409406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203807" y="2743200"/>
            <a:ext cx="461642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Inter"/>
              </a:rPr>
              <a:t>Write your own SKILL.md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807" y="3566160"/>
            <a:ext cx="4616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91C1C"/>
                </a:solidFill>
                <a:latin typeface="Inter"/>
              </a:rPr>
              <a:t>›  Choose a workflow from your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3807" y="4023360"/>
            <a:ext cx="4616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91C1C"/>
                </a:solidFill>
                <a:latin typeface="Inter"/>
              </a:rPr>
              <a:t>›  Write SKILL.md with the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3807" y="4480560"/>
            <a:ext cx="4616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>
                <a:solidFill>
                  <a:srgbClr val="B91C1C"/>
                </a:solidFill>
                <a:latin typeface="Inter"/>
              </a:rPr>
              <a:t>›  Restart Claude Code, invoke, observe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351314"/>
            <a:ext cx="5402196" cy="3409406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6690207" y="2743200"/>
            <a:ext cx="461642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Inter"/>
              </a:rPr>
              <a:t>Run Andorra's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3566160"/>
            <a:ext cx="4616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74151"/>
                </a:solidFill>
                <a:latin typeface="Inter"/>
              </a:rPr>
              <a:t>›  B1   Activation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207" y="4023360"/>
            <a:ext cx="4616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74151"/>
                </a:solidFill>
                <a:latin typeface="Inter"/>
              </a:rPr>
              <a:t>›  B2   Real benchmark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4480560"/>
            <a:ext cx="4616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374151"/>
                </a:solidFill>
                <a:latin typeface="Inter"/>
              </a:rPr>
              <a:t>›  B3   Write your own scenario (advanced)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Inter"/>
              </a:rPr>
              <a:t>Andorra's Eval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i="0" dirty="0">
                <a:solidFill>
                  <a:srgbClr val="6B7280"/>
                </a:solidFill>
                <a:latin typeface="Inter"/>
              </a:rPr>
              <a:t>Reproducible ground truth, not invented exercises.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286000"/>
            <a:ext cx="3291840" cy="25603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792327" y="283464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991B1B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3840480"/>
            <a:ext cx="32918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trigger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4322354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6B7280"/>
                </a:solidFill>
                <a:latin typeface="Inter"/>
              </a:rPr>
              <a:t>10 should-trigger · 11 should-not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2286000"/>
            <a:ext cx="3291840" cy="25603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449927" y="283464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>
                <a:solidFill>
                  <a:srgbClr val="991B1B"/>
                </a:solidFill>
                <a:latin typeface="Inter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3840480"/>
            <a:ext cx="32918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scenario directories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27" y="4322354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rgbClr val="6B7280"/>
                </a:solidFill>
                <a:latin typeface="Inter"/>
              </a:rPr>
              <a:t>6 in main benchmark + 1 extra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2286000"/>
            <a:ext cx="3291840" cy="25603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8107527" y="283464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dirty="0">
                <a:solidFill>
                  <a:srgbClr val="991B1B"/>
                </a:solidFill>
                <a:latin typeface="Inter"/>
              </a:rPr>
              <a:t>53/53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3840480"/>
            <a:ext cx="32918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with-skill checks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527" y="4322354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Inter"/>
              </a:rPr>
              <a:t>vs 48/53 without (90.6%)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829" y="1663337"/>
            <a:ext cx="11132457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943124" y="1746741"/>
            <a:ext cx="548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991B1B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3204" y="1765029"/>
            <a:ext cx="881017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1A1A1A"/>
                </a:solidFill>
                <a:latin typeface="Inter"/>
              </a:rPr>
              <a:t>A skill is a markdown file that teaches an agent your methodology.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829" y="2440577"/>
            <a:ext cx="11132457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943124" y="2523981"/>
            <a:ext cx="548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991B1B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3204" y="2542269"/>
            <a:ext cx="995565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1A1A1A"/>
                </a:solidFill>
                <a:latin typeface="Inter"/>
              </a:rPr>
              <a:t>Skills encode domain expertise, enforce guardrails, prevent common mistakes.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829" y="3217817"/>
            <a:ext cx="11132457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943124" y="3301221"/>
            <a:ext cx="548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991B1B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3204" y="3319509"/>
            <a:ext cx="881017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Anatomy: frontmatter + steps + rules + gotchas.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829" y="3995057"/>
            <a:ext cx="11132457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943124" y="4078461"/>
            <a:ext cx="548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991B1B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3204" y="4096749"/>
            <a:ext cx="881017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1A1A1A"/>
                </a:solidFill>
                <a:latin typeface="Inter"/>
              </a:rPr>
              <a:t>Start simple</a:t>
            </a:r>
            <a:r>
              <a:rPr lang="en-US" sz="2400" b="0" i="0" dirty="0">
                <a:solidFill>
                  <a:srgbClr val="1A1A1A"/>
                </a:solidFill>
                <a:latin typeface="Inter"/>
              </a:rPr>
              <a:t> and</a:t>
            </a:r>
            <a:r>
              <a:rPr sz="2400" b="0" i="0" dirty="0">
                <a:solidFill>
                  <a:srgbClr val="1A1A1A"/>
                </a:solidFill>
                <a:latin typeface="Inter"/>
              </a:rPr>
              <a:t> refine over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829" y="4772297"/>
            <a:ext cx="11132457" cy="6400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943124" y="4855701"/>
            <a:ext cx="548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991B1B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3204" y="4873989"/>
            <a:ext cx="881017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Inter"/>
              </a:rPr>
              <a:t>Share your skills: reusable, composable, platform-portable.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0708"/>
            <a:ext cx="112772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1" dirty="0">
                <a:solidFill>
                  <a:srgbClr val="047857"/>
                </a:solidFill>
                <a:latin typeface="Inter"/>
              </a:rPr>
              <a:t>The value is in the guardrails: the things you would otherwise forget under time pressure.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7729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dirty="0">
                <a:solidFill>
                  <a:srgbClr val="1A1A1A"/>
                </a:solidFill>
                <a:latin typeface="Inter"/>
              </a:rPr>
              <a:t>Resources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6B7280"/>
                </a:solidFill>
                <a:latin typeface="Inter"/>
              </a:rPr>
              <a:t>Where to go from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807" y="2240280"/>
            <a:ext cx="45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991B1B"/>
                </a:solidFill>
                <a:latin typeface="Inter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22402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Agent Skills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6727" y="2560320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enlo"/>
              </a:rPr>
              <a:t>agentskills.io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2240280"/>
            <a:ext cx="45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991B1B"/>
                </a:solidFill>
                <a:latin typeface="Inter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247" y="22402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Bayesian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7" y="2560320"/>
            <a:ext cx="4023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enlo"/>
              </a:rPr>
              <a:t>github.com/Learning-Bayesian-Statistics/baygent-skills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3807" y="3154680"/>
            <a:ext cx="45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991B1B"/>
                </a:solidFill>
                <a:latin typeface="Inter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6727" y="31546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Software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6727" y="3474720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enlo"/>
              </a:rPr>
              <a:t>github.com/obra/superpowers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3154680"/>
            <a:ext cx="45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991B1B"/>
                </a:solidFill>
                <a:latin typeface="Inter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1546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Building Effective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474720"/>
            <a:ext cx="4023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enlo"/>
              </a:rPr>
              <a:t>anthropic.com/research/building-effective-agents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3807" y="4069080"/>
            <a:ext cx="45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991B1B"/>
                </a:solidFill>
                <a:latin typeface="Inter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6727" y="40690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Skill Creator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6727" y="4389120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enlo"/>
              </a:rPr>
              <a:t>/skill-creator (Claude Code plugin)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7" y="4069080"/>
            <a:ext cx="457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991B1B"/>
                </a:solidFill>
                <a:latin typeface="Inter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0247" y="40690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Session 3 — Stubbs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47" y="4389120"/>
            <a:ext cx="4023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enlo"/>
              </a:rPr>
              <a:t>astrostubbs.github.io/GenAI-for-Scholarship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95447" y="54406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2895447" y="5625125"/>
            <a:ext cx="6400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1A1A1A"/>
                </a:solidFill>
                <a:latin typeface="Inter"/>
              </a:rPr>
              <a:t>Refine. Install. Test. Share.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1941</Words>
  <Application>Microsoft Macintosh PowerPoint</Application>
  <PresentationFormat>Widescreen</PresentationFormat>
  <Paragraphs>380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Inter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Konstantina Yaneva</cp:lastModifiedBy>
  <cp:revision>5</cp:revision>
  <dcterms:created xsi:type="dcterms:W3CDTF">2013-01-27T09:14:16Z</dcterms:created>
  <dcterms:modified xsi:type="dcterms:W3CDTF">2026-04-10T18:40:03Z</dcterms:modified>
  <cp:category/>
</cp:coreProperties>
</file>